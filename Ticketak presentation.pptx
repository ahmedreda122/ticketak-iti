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embeddedFontLst>
    <p:embeddedFont>
      <p:font typeface="Cormorant Garamond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C0B648-CDC1-499B-8FAF-301F50236BC2}">
  <a:tblStyle styleId="{8DC0B648-CDC1-499B-8FAF-301F50236B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10" y="24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42af8e19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42af8e19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42af8e19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42af8e19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42af8e19c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42af8e19c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2af8e19c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2af8e19c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2af8e19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2af8e19c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2af8e19c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42af8e19c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2af8e19c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2af8e19c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42af8e19c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42af8e19c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2af8e19c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2af8e19c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42af8e19c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42af8e19c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42af8e19c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42af8e19c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42af8e19c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42af8e19c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42af8e19c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42af8e19c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42af8e19c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42af8e19c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42af8e19c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42af8e19c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1pPr>
            <a:lvl2pPr lvl="1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2pPr>
            <a:lvl3pPr lvl="2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3pPr>
            <a:lvl4pPr lvl="3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4pPr>
            <a:lvl5pPr lvl="4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5pPr>
            <a:lvl6pPr lvl="5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6pPr>
            <a:lvl7pPr lvl="6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7pPr>
            <a:lvl8pPr lvl="7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8pPr>
            <a:lvl9pPr lvl="8" algn="ctr">
              <a:spcBef>
                <a:spcPts val="0"/>
              </a:spcBef>
              <a:spcAft>
                <a:spcPts val="0"/>
              </a:spcAft>
              <a:buSzPts val="6932"/>
              <a:buNone/>
              <a:defRPr sz="693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1pPr>
            <a:lvl2pPr lvl="1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799"/>
              <a:buNone/>
              <a:defRPr sz="4799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097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399"/>
            </a:lvl1pPr>
            <a:lvl2pPr marL="914400" lvl="1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2pPr>
            <a:lvl3pPr marL="1371600" lvl="2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3pPr>
            <a:lvl4pPr marL="1828800" lvl="3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4pPr>
            <a:lvl5pPr marL="2286000" lvl="4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5pPr>
            <a:lvl6pPr marL="2743200" lvl="5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6pPr>
            <a:lvl7pPr marL="3200400" lvl="6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7pPr>
            <a:lvl8pPr marL="3657600" lvl="7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8pPr>
            <a:lvl9pPr marL="4114800" lvl="8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1pPr>
            <a:lvl2pPr marL="914400" lvl="1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2pPr>
            <a:lvl3pPr marL="1371600" lvl="2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3pPr>
            <a:lvl4pPr marL="1828800" lvl="3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4pPr>
            <a:lvl5pPr marL="2286000" lvl="4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5pPr>
            <a:lvl6pPr marL="2743200" lvl="5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6pPr>
            <a:lvl7pPr marL="3200400" lvl="6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7pPr>
            <a:lvl8pPr marL="3657600" lvl="7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8pPr>
            <a:lvl9pPr marL="4114800" lvl="8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1pPr>
            <a:lvl2pPr marL="914400" lvl="1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2pPr>
            <a:lvl3pPr marL="1371600" lvl="2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3pPr>
            <a:lvl4pPr marL="1828800" lvl="3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4pPr>
            <a:lvl5pPr marL="2286000" lvl="4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5pPr>
            <a:lvl6pPr marL="2743200" lvl="5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6pPr>
            <a:lvl7pPr marL="3200400" lvl="6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7pPr>
            <a:lvl8pPr marL="3657600" lvl="7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8pPr>
            <a:lvl9pPr marL="4114800" lvl="8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2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1pPr>
            <a:lvl2pPr lvl="1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2pPr>
            <a:lvl3pPr lvl="2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3pPr>
            <a:lvl4pPr lvl="3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4pPr>
            <a:lvl5pPr lvl="4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5pPr>
            <a:lvl6pPr lvl="5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6pPr>
            <a:lvl7pPr lvl="6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7pPr>
            <a:lvl8pPr lvl="7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8pPr>
            <a:lvl9pPr lvl="8">
              <a:spcBef>
                <a:spcPts val="0"/>
              </a:spcBef>
              <a:spcAft>
                <a:spcPts val="0"/>
              </a:spcAft>
              <a:buSzPts val="3199"/>
              <a:buNone/>
              <a:defRPr sz="3199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1pPr>
            <a:lvl2pPr marL="914400" lvl="1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2pPr>
            <a:lvl3pPr marL="1371600" lvl="2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3pPr>
            <a:lvl4pPr marL="1828800" lvl="3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4pPr>
            <a:lvl5pPr marL="2286000" lvl="4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5pPr>
            <a:lvl6pPr marL="2743200" lvl="5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6pPr>
            <a:lvl7pPr marL="3200400" lvl="6" indent="-330182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99"/>
            </a:lvl7pPr>
            <a:lvl8pPr marL="3657600" lvl="7" indent="-330182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599"/>
            </a:lvl8pPr>
            <a:lvl9pPr marL="4114800" lvl="8" indent="-33018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599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1pPr>
            <a:lvl2pPr lvl="1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2pPr>
            <a:lvl3pPr lvl="2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3pPr>
            <a:lvl4pPr lvl="3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4pPr>
            <a:lvl5pPr lvl="4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5pPr>
            <a:lvl6pPr lvl="5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6pPr>
            <a:lvl7pPr lvl="6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7pPr>
            <a:lvl8pPr lvl="7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8pPr>
            <a:lvl9pPr lvl="8">
              <a:spcBef>
                <a:spcPts val="0"/>
              </a:spcBef>
              <a:spcAft>
                <a:spcPts val="0"/>
              </a:spcAft>
              <a:buSzPts val="6399"/>
              <a:buNone/>
              <a:defRPr sz="639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1pPr>
            <a:lvl2pPr lvl="1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2pPr>
            <a:lvl3pPr lvl="2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3pPr>
            <a:lvl4pPr lvl="3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4pPr>
            <a:lvl5pPr lvl="4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5pPr>
            <a:lvl6pPr lvl="5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6pPr>
            <a:lvl7pPr lvl="6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7pPr>
            <a:lvl8pPr lvl="7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8pPr>
            <a:lvl9pPr lvl="8" algn="ctr">
              <a:spcBef>
                <a:spcPts val="0"/>
              </a:spcBef>
              <a:spcAft>
                <a:spcPts val="0"/>
              </a:spcAft>
              <a:buSzPts val="5599"/>
              <a:buNone/>
              <a:defRPr sz="5599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99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457200" lvl="0" indent="-38097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399"/>
            </a:lvl1pPr>
            <a:lvl2pPr marL="914400" lvl="1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2pPr>
            <a:lvl3pPr marL="1371600" lvl="2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3pPr>
            <a:lvl4pPr marL="1828800" lvl="3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4pPr>
            <a:lvl5pPr marL="2286000" lvl="4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5pPr>
            <a:lvl6pPr marL="2743200" lvl="5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6pPr>
            <a:lvl7pPr marL="3200400" lvl="6" indent="-347113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7pPr>
            <a:lvl8pPr marL="3657600" lvl="7" indent="-347113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8pPr>
            <a:lvl9pPr marL="4114800" lvl="8" indent="-347113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399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1pPr>
            <a:lvl2pPr lvl="1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2pPr>
            <a:lvl3pPr lvl="2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3pPr>
            <a:lvl4pPr lvl="3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4pPr>
            <a:lvl5pPr lvl="4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5pPr>
            <a:lvl6pPr lvl="5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6pPr>
            <a:lvl7pPr lvl="6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7pPr>
            <a:lvl8pPr lvl="7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8pPr>
            <a:lvl9pPr lvl="8" algn="ctr">
              <a:spcBef>
                <a:spcPts val="0"/>
              </a:spcBef>
              <a:spcAft>
                <a:spcPts val="0"/>
              </a:spcAft>
              <a:buSzPts val="15997"/>
              <a:buNone/>
              <a:defRPr sz="1599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0974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399"/>
            </a:lvl1pPr>
            <a:lvl2pPr marL="914400" lvl="1" indent="-347113" algn="ctr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2pPr>
            <a:lvl3pPr marL="1371600" lvl="2" indent="-347113" algn="ctr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3pPr>
            <a:lvl4pPr marL="1828800" lvl="3" indent="-347113" algn="ctr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4pPr>
            <a:lvl5pPr marL="2286000" lvl="4" indent="-347113" algn="ctr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5pPr>
            <a:lvl6pPr marL="2743200" lvl="5" indent="-347113" algn="ctr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6pPr>
            <a:lvl7pPr marL="3200400" lvl="6" indent="-347113" algn="ctr">
              <a:spcBef>
                <a:spcPts val="0"/>
              </a:spcBef>
              <a:spcAft>
                <a:spcPts val="0"/>
              </a:spcAft>
              <a:buSzPts val="1866"/>
              <a:buChar char="●"/>
              <a:defRPr sz="1866"/>
            </a:lvl7pPr>
            <a:lvl8pPr marL="3657600" lvl="7" indent="-347113" algn="ctr">
              <a:spcBef>
                <a:spcPts val="0"/>
              </a:spcBef>
              <a:spcAft>
                <a:spcPts val="0"/>
              </a:spcAft>
              <a:buSzPts val="1866"/>
              <a:buChar char="○"/>
              <a:defRPr sz="1866"/>
            </a:lvl8pPr>
            <a:lvl9pPr marL="4114800" lvl="8" indent="-347113" algn="ctr">
              <a:spcBef>
                <a:spcPts val="0"/>
              </a:spcBef>
              <a:spcAft>
                <a:spcPts val="0"/>
              </a:spcAft>
              <a:buSzPts val="1866"/>
              <a:buChar char="■"/>
              <a:defRPr sz="18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2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097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399">
                <a:solidFill>
                  <a:schemeClr val="dk2"/>
                </a:solidFill>
              </a:defRPr>
            </a:lvl1pPr>
            <a:lvl2pPr marL="914400" lvl="1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○"/>
              <a:defRPr sz="1866">
                <a:solidFill>
                  <a:schemeClr val="dk2"/>
                </a:solidFill>
              </a:defRPr>
            </a:lvl2pPr>
            <a:lvl3pPr marL="1371600" lvl="2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■"/>
              <a:defRPr sz="1866">
                <a:solidFill>
                  <a:schemeClr val="dk2"/>
                </a:solidFill>
              </a:defRPr>
            </a:lvl3pPr>
            <a:lvl4pPr marL="1828800" lvl="3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●"/>
              <a:defRPr sz="1866">
                <a:solidFill>
                  <a:schemeClr val="dk2"/>
                </a:solidFill>
              </a:defRPr>
            </a:lvl4pPr>
            <a:lvl5pPr marL="2286000" lvl="4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○"/>
              <a:defRPr sz="1866">
                <a:solidFill>
                  <a:schemeClr val="dk2"/>
                </a:solidFill>
              </a:defRPr>
            </a:lvl5pPr>
            <a:lvl6pPr marL="2743200" lvl="5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■"/>
              <a:defRPr sz="1866">
                <a:solidFill>
                  <a:schemeClr val="dk2"/>
                </a:solidFill>
              </a:defRPr>
            </a:lvl6pPr>
            <a:lvl7pPr marL="3200400" lvl="6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●"/>
              <a:defRPr sz="1866">
                <a:solidFill>
                  <a:schemeClr val="dk2"/>
                </a:solidFill>
              </a:defRPr>
            </a:lvl7pPr>
            <a:lvl8pPr marL="3657600" lvl="7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○"/>
              <a:defRPr sz="1866">
                <a:solidFill>
                  <a:schemeClr val="dk2"/>
                </a:solidFill>
              </a:defRPr>
            </a:lvl8pPr>
            <a:lvl9pPr marL="4114800" lvl="8" indent="-34711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6"/>
              <a:buChar char="■"/>
              <a:defRPr sz="18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hmadreda122.atlassian.net/jira/software/projects/SCRUM/boards/1" TargetMode="External"/><Relationship Id="rId4" Type="http://schemas.openxmlformats.org/officeDocument/2006/relationships/hyperlink" Target="https://drive.google.com/file/d/1tp0hIYhdpTxcTYQfx7kojjJwen5mJY7y/view?usp=sha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d4jbXRG2zvN5H98mGwhGMlR6U6EChMKO/view?usp=shar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hmedreda122/Ticketak-ITI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758" y="0"/>
            <a:ext cx="13234022" cy="744413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8421" y="2177508"/>
            <a:ext cx="12539700" cy="16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1F1F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Ticketak</a:t>
            </a:r>
            <a:endParaRPr sz="4800" b="1">
              <a:solidFill>
                <a:srgbClr val="F1F1F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1F1F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(Ticket Management System)</a:t>
            </a:r>
            <a:endParaRPr sz="3600" b="1">
              <a:solidFill>
                <a:srgbClr val="F1F1F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025" y="2290500"/>
            <a:ext cx="912750" cy="9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1876274" y="3862109"/>
            <a:ext cx="9144000" cy="1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85215" y="585216"/>
            <a:ext cx="3785817" cy="79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Team Members</a:t>
            </a:r>
            <a:endParaRPr dirty="0"/>
          </a:p>
        </p:txBody>
      </p:sp>
      <p:sp>
        <p:nvSpPr>
          <p:cNvPr id="64" name="Google Shape;64;p14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1331863" y="1798425"/>
          <a:ext cx="9315325" cy="4838698"/>
        </p:xfrm>
        <a:graphic>
          <a:graphicData uri="http://schemas.openxmlformats.org/drawingml/2006/table">
            <a:tbl>
              <a:tblPr>
                <a:noFill/>
                <a:tableStyleId>{8DC0B648-CDC1-499B-8FAF-301F50236BC2}</a:tableStyleId>
              </a:tblPr>
              <a:tblGrid>
                <a:gridCol w="931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b="1">
                          <a:solidFill>
                            <a:srgbClr val="FBBF24"/>
                          </a:solidFill>
                          <a:latin typeface="Cormorant Garamond"/>
                          <a:ea typeface="Cormorant Garamond"/>
                          <a:cs typeface="Cormorant Garamond"/>
                          <a:sym typeface="Cormorant Garamond"/>
                        </a:rPr>
                        <a:t>Name</a:t>
                      </a:r>
                      <a:endParaRPr sz="6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Ahmad Reda Bayoumy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George Mariey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Karim Mohamed Shebl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Omar Mohammed Fayek Mostafa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Mohammed Abdallah Owais</a:t>
                      </a:r>
                      <a:endParaRPr sz="2150">
                        <a:solidFill>
                          <a:srgbClr val="CBD5E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2150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Fady Adel Botros Awdallah</a:t>
                      </a:r>
                      <a:endParaRPr sz="2150">
                        <a:solidFill>
                          <a:srgbClr val="CBD5E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85216" y="585216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Agenda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72050" y="2012750"/>
            <a:ext cx="9526200" cy="4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21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Project Requirements</a:t>
            </a:r>
            <a:endParaRPr sz="21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UML Diagrams</a:t>
            </a:r>
            <a:endParaRPr sz="21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Project Implementation</a:t>
            </a:r>
            <a:endParaRPr sz="21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85216" y="585216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Introduction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872050" y="2012750"/>
            <a:ext cx="9526200" cy="4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Ticketak is a ticket management system designed to streamline the process of event creation, ticket booking, and event management.</a:t>
            </a:r>
            <a:endParaRPr sz="13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The system supports role-based access, allowing:</a:t>
            </a:r>
            <a:endParaRPr sz="13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43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Montserrat"/>
              <a:buChar char="●"/>
            </a:pPr>
            <a:r>
              <a:rPr lang="en" sz="13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Users (Fans) to register, browse events, search by category, purchase tickets, and manage their booked events.</a:t>
            </a:r>
            <a:endParaRPr sz="13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43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Montserrat"/>
              <a:buChar char="●"/>
            </a:pPr>
            <a:r>
              <a:rPr lang="en" sz="13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Administrators to create, update, and manage events, control ticket availability, and monitor event details.</a:t>
            </a:r>
            <a:endParaRPr sz="13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85225" y="585225"/>
            <a:ext cx="4713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Project Requirements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872050" y="2012750"/>
            <a:ext cx="9526200" cy="4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 dirty="0">
                <a:solidFill>
                  <a:srgbClr val="CBD5E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Ticketak Requirements</a:t>
            </a:r>
            <a:endParaRPr sz="2150" dirty="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12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50"/>
              <a:buFont typeface="Montserrat"/>
              <a:buChar char="●"/>
            </a:pPr>
            <a:r>
              <a:rPr lang="en" sz="2150" dirty="0">
                <a:solidFill>
                  <a:srgbClr val="CBD5E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&amp; Sprint Management (Jira)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758" y="0"/>
            <a:ext cx="13234022" cy="744413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440784" y="2823283"/>
            <a:ext cx="12539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1F1F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UML Diagrams</a:t>
            </a:r>
            <a:endParaRPr sz="3600" b="1">
              <a:solidFill>
                <a:srgbClr val="F1F1F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1989262" y="3808184"/>
            <a:ext cx="9144000" cy="1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025" y="2718650"/>
            <a:ext cx="984900" cy="9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585216" y="585216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Class Diagram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585225" y="1640425"/>
            <a:ext cx="1072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Ticketak Class Diagram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Use Case Diagram</a:t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4513" y="1418325"/>
            <a:ext cx="6479926" cy="524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Use Case Diagram</a:t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800" y="1459100"/>
            <a:ext cx="6799174" cy="528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Activity Diagrams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581025" y="1533650"/>
            <a:ext cx="624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Authentication and Authorization Diagram:</a:t>
            </a:r>
            <a:endParaRPr sz="2000"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6600" y="1718363"/>
            <a:ext cx="3394276" cy="48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Activity Diagrams</a:t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581025" y="1533650"/>
            <a:ext cx="46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User Management Diagram:</a:t>
            </a:r>
            <a:endParaRPr sz="2000"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6368" y="1719072"/>
            <a:ext cx="3392424" cy="483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Activity Diagrams</a:t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581025" y="1533650"/>
            <a:ext cx="46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Admin Management Diagram:</a:t>
            </a:r>
            <a:endParaRPr sz="2000"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6368" y="1719072"/>
            <a:ext cx="3392424" cy="483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Sequence Diagrams</a:t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581025" y="1533650"/>
            <a:ext cx="46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Add Event Diagram:</a:t>
            </a:r>
            <a:endParaRPr sz="2000"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032" y="1417320"/>
            <a:ext cx="6601969" cy="5175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585232" y="585225"/>
            <a:ext cx="525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Sequence Diagrams</a:t>
            </a:r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581025" y="1533650"/>
            <a:ext cx="46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Buy Ticket Diagram:</a:t>
            </a:r>
            <a:endParaRPr sz="2000"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400" y="1420625"/>
            <a:ext cx="6605450" cy="517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585225" y="585225"/>
            <a:ext cx="4713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Project Implementation</a:t>
            </a:r>
            <a:endParaRPr/>
          </a:p>
        </p:txBody>
      </p:sp>
      <p:sp>
        <p:nvSpPr>
          <p:cNvPr id="173" name="Google Shape;173;p27"/>
          <p:cNvSpPr/>
          <p:nvPr/>
        </p:nvSpPr>
        <p:spPr>
          <a:xfrm>
            <a:off x="581025" y="1274415"/>
            <a:ext cx="11030100" cy="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 descr="Requirements&#10;&#10;"/>
          <p:cNvSpPr txBox="1"/>
          <p:nvPr/>
        </p:nvSpPr>
        <p:spPr>
          <a:xfrm>
            <a:off x="872050" y="2012750"/>
            <a:ext cx="9526200" cy="4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BD5E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6250" y="-435875"/>
            <a:ext cx="16251933" cy="91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/>
        </p:nvSpPr>
        <p:spPr>
          <a:xfrm>
            <a:off x="4594463" y="3044250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FBBF2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Thank you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Custom</PresentationFormat>
  <Paragraphs>44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Montserrat</vt:lpstr>
      <vt:lpstr>Cormorant Garamond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احمد رضا بيومى محمد</cp:lastModifiedBy>
  <cp:revision>2</cp:revision>
  <dcterms:modified xsi:type="dcterms:W3CDTF">2026-01-01T11:54:16Z</dcterms:modified>
</cp:coreProperties>
</file>